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D3C295-E481-4F21-AE3A-787ED52647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2A41FB-5A98-4C99-B4F2-32793BCD2B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Terceiro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Quarto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Sétimo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3B464FC-7834-4AD1-823E-543A0C72020F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hub.docker.com/" TargetMode="External"/><Relationship Id="rId2" Type="http://schemas.openxmlformats.org/officeDocument/2006/relationships/hyperlink" Target="https://hub.docker.com/" TargetMode="External"/><Relationship Id="rId3" Type="http://schemas.openxmlformats.org/officeDocument/2006/relationships/hyperlink" Target="https://hub.docker.com/" TargetMode="External"/><Relationship Id="rId4" Type="http://schemas.openxmlformats.org/officeDocument/2006/relationships/hyperlink" Target="https://aws.amazon.com/ecr/" TargetMode="External"/><Relationship Id="rId5" Type="http://schemas.openxmlformats.org/officeDocument/2006/relationships/hyperlink" Target="https://azure.microsoft.com/en-in/products/container-registry" TargetMode="External"/><Relationship Id="rId6" Type="http://schemas.openxmlformats.org/officeDocument/2006/relationships/hyperlink" Target="https://cloud.google.com/artifact-registry" TargetMode="External"/><Relationship Id="rId7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/>
          <p:cNvPicPr/>
          <p:nvPr/>
        </p:nvPicPr>
        <p:blipFill>
          <a:blip r:embed="rId1"/>
          <a:stretch/>
        </p:blipFill>
        <p:spPr>
          <a:xfrm>
            <a:off x="0" y="1440000"/>
            <a:ext cx="10079640" cy="2590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0080000" cy="1172520"/>
          </a:xfrm>
          <a:prstGeom prst="rect">
            <a:avLst/>
          </a:prstGeom>
          <a:solidFill>
            <a:srgbClr val="2497EE"/>
          </a:solidFill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r>
              <a:rPr lang="pt-BR" sz="4400" b="0" u="none" strike="noStrike">
                <a:solidFill>
                  <a:srgbClr val="FFFFFF"/>
                </a:solidFill>
                <a:effectLst/>
                <a:uFillTx/>
                <a:latin typeface="Comfortaa"/>
              </a:rPr>
              <a:t> O que é o Docker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Comforta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180000" y="1260000"/>
            <a:ext cx="9720000" cy="43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O </a:t>
            </a:r>
            <a:r>
              <a:rPr lang="pt-BR" sz="2000" b="0" u="none" strike="noStrike">
                <a:solidFill>
                  <a:srgbClr val="000000"/>
                </a:solidFill>
                <a:effectLst/>
                <a:highlight>
                  <a:srgbClr val="2497EE"/>
                </a:highlight>
                <a:uFillTx/>
                <a:latin typeface="Comfortaa"/>
              </a:rPr>
              <a:t>Docker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 é uma plataforma aberta para </a:t>
            </a: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desenvolver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, </a:t>
            </a: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distribuir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 e </a:t>
            </a: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executar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 aplicações. 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Comfortaa"/>
            </a:endParaRPr>
          </a:p>
          <a:p>
            <a:pPr marL="432000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Ele permite </a:t>
            </a: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separar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 as aplicações da infraestrutura, possibilitando a entrega rápida de software.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Comfortaa"/>
            </a:endParaRPr>
          </a:p>
          <a:p>
            <a:pPr marL="432000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Ele permite também empacotar e executar uma aplicação em um ambiente </a:t>
            </a: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parcialmente isolado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, chamado </a:t>
            </a:r>
            <a:r>
              <a:rPr lang="pt-BR" sz="2000" b="0" u="none" strike="noStrike">
                <a:solidFill>
                  <a:srgbClr val="000000"/>
                </a:solidFill>
                <a:effectLst/>
                <a:highlight>
                  <a:srgbClr val="2497EE"/>
                </a:highlight>
                <a:uFillTx/>
                <a:latin typeface="Comfortaa"/>
              </a:rPr>
              <a:t>contêiner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. O isolamento e a segurança permitem executar vários </a:t>
            </a:r>
            <a:r>
              <a:rPr lang="pt-BR" sz="2000" b="0" u="none" strike="noStrike">
                <a:solidFill>
                  <a:srgbClr val="000000"/>
                </a:solidFill>
                <a:effectLst/>
                <a:highlight>
                  <a:srgbClr val="2497EE"/>
                </a:highlight>
                <a:uFillTx/>
                <a:latin typeface="Comfortaa"/>
              </a:rPr>
              <a:t>contêineres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 simultaneamente em um mesmo </a:t>
            </a:r>
            <a:r>
              <a:rPr lang="pt-BR" sz="2000" b="0" i="1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host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Comforta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0080000" cy="1172520"/>
          </a:xfrm>
          <a:prstGeom prst="rect">
            <a:avLst/>
          </a:prstGeom>
          <a:solidFill>
            <a:srgbClr val="2497EE"/>
          </a:solidFill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r>
              <a:rPr lang="pt-BR" sz="4400" b="0" u="none" strike="noStrike">
                <a:solidFill>
                  <a:srgbClr val="FFFFFF"/>
                </a:solidFill>
                <a:effectLst/>
                <a:uFillTx/>
                <a:latin typeface="Comfortaa"/>
                <a:ea typeface="Noto Sans CJK SC"/>
              </a:rPr>
              <a:t> </a:t>
            </a:r>
            <a:r>
              <a:rPr lang="pt-BR" sz="4400" b="0" u="none" strike="noStrike">
                <a:solidFill>
                  <a:srgbClr val="FFFFFF"/>
                </a:solidFill>
                <a:effectLst/>
                <a:uFillTx/>
                <a:latin typeface="Comfortaa"/>
              </a:rPr>
              <a:t>O que é Contêiner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Comforta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180000" y="1260000"/>
            <a:ext cx="9720000" cy="12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Um </a:t>
            </a:r>
            <a:r>
              <a:rPr lang="pt-BR" sz="2000" b="0" u="none" strike="noStrike">
                <a:solidFill>
                  <a:srgbClr val="000000"/>
                </a:solidFill>
                <a:effectLst/>
                <a:highlight>
                  <a:srgbClr val="2497EE"/>
                </a:highlight>
                <a:uFillTx/>
                <a:latin typeface="Comfortaa"/>
              </a:rPr>
              <a:t>contêiner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 é uma unidade padrão de software que </a:t>
            </a: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empacota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 o código e todas as suas dependências, permitindo que o aplicativo seja executado de forma rápida e confiável em </a:t>
            </a: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diferentes ambientes computacionais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. 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spcBef>
                <a:spcPts val="1191"/>
              </a:spcBef>
              <a:spcAft>
                <a:spcPts val="992"/>
              </a:spcAft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"/>
          <p:cNvPicPr/>
          <p:nvPr/>
        </p:nvPicPr>
        <p:blipFill>
          <a:blip r:embed="rId1"/>
          <a:stretch/>
        </p:blipFill>
        <p:spPr>
          <a:xfrm>
            <a:off x="-432000" y="1873800"/>
            <a:ext cx="4860000" cy="421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"/>
          <p:cNvSpPr txBox="1"/>
          <p:nvPr/>
        </p:nvSpPr>
        <p:spPr>
          <a:xfrm>
            <a:off x="4140000" y="2520000"/>
            <a:ext cx="5760000" cy="30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432000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Em outras palavras, </a:t>
            </a:r>
            <a:r>
              <a:rPr lang="pt-BR" sz="2000" b="0" u="none" strike="noStrike">
                <a:solidFill>
                  <a:srgbClr val="000000"/>
                </a:solidFill>
                <a:effectLst/>
                <a:highlight>
                  <a:srgbClr val="2497EE"/>
                </a:highlight>
                <a:uFillTx/>
                <a:latin typeface="Comfortaa"/>
              </a:rPr>
              <a:t>contêineres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 são </a:t>
            </a: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processos isolados para cada componente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 de uma aplicação. 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Cada componente é executado em seu próprio ambiente isolado, e completamente isolado do restante de sua máquina.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just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Aplicação </a:t>
            </a:r>
            <a:r>
              <a:rPr lang="pt-BR" sz="1800" b="0" i="1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front-end</a:t>
            </a: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 com React;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just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i="1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Back-end</a:t>
            </a: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 API com Python;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just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Banco de dados.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0080000" cy="1172520"/>
          </a:xfrm>
          <a:prstGeom prst="rect">
            <a:avLst/>
          </a:prstGeom>
          <a:solidFill>
            <a:srgbClr val="2497EE"/>
          </a:solidFill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r>
              <a:rPr lang="pt-BR" sz="4400" b="0" u="none" strike="noStrike">
                <a:solidFill>
                  <a:srgbClr val="FFFFFF"/>
                </a:solidFill>
                <a:effectLst/>
                <a:uFillTx/>
                <a:latin typeface="Comfortaa"/>
                <a:ea typeface="Noto Sans CJK SC"/>
              </a:rPr>
              <a:t> </a:t>
            </a:r>
            <a:r>
              <a:rPr lang="pt-BR" sz="4400" b="0" u="none" strike="noStrike">
                <a:solidFill>
                  <a:srgbClr val="FFFFFF"/>
                </a:solidFill>
                <a:effectLst/>
                <a:uFillTx/>
                <a:latin typeface="Comfortaa"/>
                <a:ea typeface="Noto Sans CJK SC"/>
              </a:rPr>
              <a:t>O que é Contêiner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Comfortaa"/>
            </a:endParaRPr>
          </a:p>
        </p:txBody>
      </p:sp>
      <p:pic>
        <p:nvPicPr>
          <p:cNvPr id="19" name=""/>
          <p:cNvPicPr/>
          <p:nvPr/>
        </p:nvPicPr>
        <p:blipFill>
          <a:blip r:embed="rId1"/>
          <a:stretch/>
        </p:blipFill>
        <p:spPr>
          <a:xfrm>
            <a:off x="0" y="1172520"/>
            <a:ext cx="10080000" cy="4497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0080000" cy="1172520"/>
          </a:xfrm>
          <a:prstGeom prst="rect">
            <a:avLst/>
          </a:prstGeom>
          <a:solidFill>
            <a:srgbClr val="2497EE"/>
          </a:solidFill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r>
              <a:rPr lang="pt-BR" sz="4400" b="0" u="none" strike="noStrike">
                <a:solidFill>
                  <a:srgbClr val="FFFFFF"/>
                </a:solidFill>
                <a:effectLst/>
                <a:uFillTx/>
                <a:latin typeface="Comfortaa"/>
                <a:ea typeface="Noto Sans CJK SC"/>
              </a:rPr>
              <a:t> </a:t>
            </a:r>
            <a:r>
              <a:rPr lang="pt-BR" sz="4400" b="0" u="none" strike="noStrike">
                <a:solidFill>
                  <a:srgbClr val="FFFFFF"/>
                </a:solidFill>
                <a:effectLst/>
                <a:uFillTx/>
                <a:latin typeface="Comfortaa"/>
              </a:rPr>
              <a:t>O que é Imagem de Contêiner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Comfortaa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80000" y="1260000"/>
            <a:ext cx="9720000" cy="43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p>
            <a:pPr marL="432000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Uma </a:t>
            </a:r>
            <a:r>
              <a:rPr lang="pt-BR" sz="2000" b="0" u="none" strike="noStrike">
                <a:solidFill>
                  <a:srgbClr val="000000"/>
                </a:solidFill>
                <a:effectLst/>
                <a:highlight>
                  <a:srgbClr val="2497EE"/>
                </a:highlight>
                <a:uFillTx/>
                <a:latin typeface="Comfortaa"/>
              </a:rPr>
              <a:t>imagem de contêiner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 Docker é um pacote de software leve, </a:t>
            </a: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independente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 e </a:t>
            </a: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executável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, que i</a:t>
            </a: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nclui tudo o que é necessário para executar um aplicativo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: 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just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Código;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just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Ambiente de execução;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just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Ferramentas de sistema;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just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Bibliotecas de sistema e configurações.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highlight>
                  <a:srgbClr val="2497EE"/>
                </a:highlight>
                <a:uFillTx/>
                <a:latin typeface="Comfortaa"/>
              </a:rPr>
              <a:t>Imagens de contêiner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 podem ser encontradas no </a:t>
            </a:r>
            <a:r>
              <a:rPr lang="pt-BR" sz="2000" b="0" u="sng" strike="noStrike">
                <a:solidFill>
                  <a:srgbClr val="2497EE"/>
                </a:solidFill>
                <a:effectLst/>
                <a:uFillTx/>
                <a:latin typeface="Comfortaa"/>
                <a:hlinkClick r:id="rId1"/>
              </a:rPr>
              <a:t>Docker Hub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  <a:ea typeface="Noto Sans CJK SC"/>
              </a:rPr>
              <a:t>O </a:t>
            </a:r>
            <a:r>
              <a:rPr lang="pt-BR" sz="2000" b="0" u="sng" strike="noStrike">
                <a:solidFill>
                  <a:srgbClr val="2497EE"/>
                </a:solidFill>
                <a:effectLst/>
                <a:uFillTx/>
                <a:latin typeface="Comfortaa"/>
                <a:ea typeface="Noto Sans CJK SC"/>
                <a:hlinkClick r:id="rId2"/>
              </a:rPr>
              <a:t>Docker Hub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 é um </a:t>
            </a:r>
            <a:r>
              <a:rPr lang="pt-BR" sz="2000" b="1" u="none" strike="noStrike">
                <a:solidFill>
                  <a:srgbClr val="000000"/>
                </a:solidFill>
                <a:effectLst/>
                <a:highlight>
                  <a:srgbClr val="2497EE"/>
                </a:highlight>
                <a:uFillTx/>
                <a:latin typeface="Comfortaa"/>
              </a:rPr>
              <a:t>registro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 público de imagens, ou seja, uma localização central de armazenamento e compartilhamento de </a:t>
            </a:r>
            <a:r>
              <a:rPr lang="pt-BR" sz="2000" b="0" u="none" strike="noStrike">
                <a:solidFill>
                  <a:srgbClr val="000000"/>
                </a:solidFill>
                <a:effectLst/>
                <a:highlight>
                  <a:srgbClr val="2497EE"/>
                </a:highlight>
                <a:uFillTx/>
                <a:latin typeface="Comfortaa"/>
              </a:rPr>
              <a:t>imagens de contêiner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  <a:ea typeface="Noto Sans CJK SC"/>
              </a:rPr>
              <a:t>Registros podem também ser locais e privados e, quando públicos, não serem o   </a:t>
            </a:r>
            <a:r>
              <a:rPr lang="pt-BR" sz="2000" b="0" u="sng" strike="noStrike">
                <a:solidFill>
                  <a:srgbClr val="2497EE"/>
                </a:solidFill>
                <a:effectLst/>
                <a:uFillTx/>
                <a:latin typeface="Comfortaa"/>
                <a:ea typeface="Noto Sans CJK SC"/>
                <a:hlinkClick r:id="rId3"/>
              </a:rPr>
              <a:t>Docker Hub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  <a:ea typeface="Noto Sans CJK SC"/>
              </a:rPr>
              <a:t>. Exemplos: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sng" strike="noStrike">
                <a:solidFill>
                  <a:srgbClr val="2497EE"/>
                </a:solidFill>
                <a:effectLst/>
                <a:uFillTx/>
                <a:latin typeface="Comfortaa"/>
                <a:ea typeface="Noto Sans CJK SC"/>
                <a:hlinkClick r:id="rId4"/>
              </a:rPr>
              <a:t>Amazon Elastic Container Registry (ECR)</a:t>
            </a: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Comfortaa"/>
                <a:ea typeface="Noto Sans CJK SC"/>
              </a:rPr>
              <a:t>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sng" strike="noStrike">
                <a:solidFill>
                  <a:srgbClr val="2497EE"/>
                </a:solidFill>
                <a:effectLst/>
                <a:uFillTx/>
                <a:latin typeface="Comfortaa"/>
                <a:ea typeface="Noto Sans CJK SC"/>
                <a:hlinkClick r:id="rId5"/>
              </a:rPr>
              <a:t>Azure Container Registry (ACR)</a:t>
            </a: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Comfortaa"/>
                <a:ea typeface="Noto Sans CJK SC"/>
              </a:rPr>
              <a:t>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sng" strike="noStrike">
                <a:solidFill>
                  <a:srgbClr val="2497EE"/>
                </a:solidFill>
                <a:effectLst/>
                <a:uFillTx/>
                <a:latin typeface="Comfortaa"/>
                <a:ea typeface="Noto Sans CJK SC"/>
                <a:hlinkClick r:id="rId6"/>
              </a:rPr>
              <a:t>Google Container Registry (GCR)</a:t>
            </a: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Comfortaa"/>
                <a:ea typeface="Noto Sans CJK SC"/>
              </a:rPr>
              <a:t>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0080000" cy="1172520"/>
          </a:xfrm>
          <a:prstGeom prst="rect">
            <a:avLst/>
          </a:prstGeom>
          <a:solidFill>
            <a:srgbClr val="2497EE"/>
          </a:solidFill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r>
              <a:rPr lang="pt-BR" sz="4400" b="0" u="none" strike="noStrike">
                <a:solidFill>
                  <a:srgbClr val="FFFFFF"/>
                </a:solidFill>
                <a:effectLst/>
                <a:uFillTx/>
                <a:latin typeface="Comfortaa"/>
                <a:ea typeface="Noto Sans CJK SC"/>
              </a:rPr>
              <a:t> </a:t>
            </a:r>
            <a:r>
              <a:rPr lang="pt-BR" sz="4400" b="0" u="none" strike="noStrike">
                <a:solidFill>
                  <a:srgbClr val="FFFFFF"/>
                </a:solidFill>
                <a:effectLst/>
                <a:uFillTx/>
                <a:latin typeface="Comfortaa"/>
              </a:rPr>
              <a:t>O que é Docker Compose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Comfortaa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80000" y="1260000"/>
            <a:ext cx="9720000" cy="43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Projetos maiores e mais complexos possuem mais componentes.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Todos esses componentes podem estar inclusos em um único contêiner.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Entretanto, essa não é uma boa prática. Além de deixar o projeto como um todo mais complexo, podemos ter como consequência vulnerabilidades de segurança e também de </a:t>
            </a:r>
            <a:r>
              <a:rPr lang="pt-BR" sz="2000" b="0" i="1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runtime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Solução: </a:t>
            </a:r>
            <a:r>
              <a:rPr lang="pt-BR" sz="2000" b="0" u="none" strike="noStrike">
                <a:solidFill>
                  <a:srgbClr val="000000"/>
                </a:solidFill>
                <a:effectLst/>
                <a:highlight>
                  <a:srgbClr val="2497EE"/>
                </a:highlight>
                <a:uFillTx/>
                <a:latin typeface="Comfortaa"/>
              </a:rPr>
              <a:t>Docker Compose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just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Arquivo YAML contendo todos os contêineres e suas configurações.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LibreOffice/26.2.3.2$Linux_X86_64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2026-06-07T15:53:10Z</dcterms:created>
  <dc:creator/>
  <dc:description/>
  <dc:language>pt-BR</dc:language>
  <cp:lastModifiedBy/>
  <dcterms:modified xsi:type="dcterms:W3CDTF">2026-06-07T17:06:55Z</dcterms:modified>
  <cp:revision>1</cp:revision>
  <dc:subject/>
  <dc:title/>
</cp:coreProperties>
</file>